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Fraunces Extra Bold" charset="0"/>
      <p:regular r:id="rId9"/>
    </p:embeddedFont>
    <p:embeddedFont>
      <p:font typeface="Nobile" charset="0"/>
      <p:regular r:id="rId10"/>
    </p:embeddedFont>
    <p:embeddedFont>
      <p:font typeface="Calibri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-612" y="-84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-8.svg"/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-3-6.svg"/><Relationship Id="rId5" Type="http://schemas.openxmlformats.org/officeDocument/2006/relationships/image" Target="../media/image-3-4.svg"/><Relationship Id="rId10" Type="http://schemas.openxmlformats.org/officeDocument/2006/relationships/image" Target="../media/image-3-10.svg"/><Relationship Id="rId4" Type="http://schemas.openxmlformats.org/officeDocument/2006/relationships/image" Target="../media/image-3-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97305"/>
            <a:ext cx="7556421" cy="142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smtClean="0">
                <a:solidFill>
                  <a:srgbClr val="3B4540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Smart </a:t>
            </a:r>
            <a:r>
              <a:rPr lang="en-US" sz="4450" b="1" dirty="0">
                <a:solidFill>
                  <a:srgbClr val="3B4540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Bank Statement Analyzer</a:t>
            </a:r>
            <a:endParaRPr lang="en-US" sz="44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2813209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B4540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AI-Powered Personal Finance Intelligence Platform</a:t>
            </a:r>
            <a:endParaRPr lang="en-US" sz="35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80190" y="428732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Turning raw transactions into financial intelligence</a:t>
            </a:r>
            <a:r>
              <a:rPr lang="en-US" sz="1750" i="1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.</a:t>
            </a:r>
            <a:endParaRPr lang="en-US" sz="17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80190" y="49903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 Team Members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80190" y="5684877"/>
            <a:ext cx="75564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B.SAI MONISH </a:t>
            </a:r>
            <a:endParaRPr lang="en-US" sz="175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B.SAI MEGHANA</a:t>
            </a:r>
            <a:endParaRPr lang="en-US" sz="175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G.HARITHA</a:t>
            </a:r>
            <a:endParaRPr lang="en-US" sz="175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3224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3B4540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 The Problem</a:t>
            </a:r>
            <a:endParaRPr lang="en-US" sz="37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963341"/>
            <a:ext cx="130428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Most people struggle to make sense of their own finances. Here's why: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432923"/>
            <a:ext cx="4238387" cy="1987748"/>
          </a:xfrm>
          <a:prstGeom prst="roundRect">
            <a:avLst>
              <a:gd name="adj" fmla="val 552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930" y="2432923"/>
            <a:ext cx="91440" cy="1987748"/>
          </a:xfrm>
          <a:prstGeom prst="roundRect">
            <a:avLst>
              <a:gd name="adj" fmla="val 189767"/>
            </a:avLst>
          </a:prstGeom>
          <a:solidFill>
            <a:srgbClr val="438951"/>
          </a:solidFill>
          <a:ln/>
        </p:spPr>
      </p:sp>
      <p:sp>
        <p:nvSpPr>
          <p:cNvPr id="6" name="Text 4"/>
          <p:cNvSpPr/>
          <p:nvPr/>
        </p:nvSpPr>
        <p:spPr>
          <a:xfrm>
            <a:off x="1077992" y="2648545"/>
            <a:ext cx="3738563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Bank statements are unstructured</a:t>
            </a:r>
            <a:endParaRPr lang="en-US" sz="18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7992" y="3349228"/>
            <a:ext cx="3738563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Raw transaction data is messy, inconsistent, and difficult to interpret without manual effort</a:t>
            </a:r>
            <a:r>
              <a:rPr lang="en-US" sz="150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.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196007" y="2432923"/>
            <a:ext cx="4238387" cy="1987748"/>
          </a:xfrm>
          <a:prstGeom prst="roundRect">
            <a:avLst>
              <a:gd name="adj" fmla="val 552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73147" y="2432923"/>
            <a:ext cx="91440" cy="1987748"/>
          </a:xfrm>
          <a:prstGeom prst="roundRect">
            <a:avLst>
              <a:gd name="adj" fmla="val 189767"/>
            </a:avLst>
          </a:prstGeom>
          <a:solidFill>
            <a:srgbClr val="438951"/>
          </a:solidFill>
          <a:ln/>
        </p:spPr>
      </p:sp>
      <p:sp>
        <p:nvSpPr>
          <p:cNvPr id="10" name="Text 8"/>
          <p:cNvSpPr/>
          <p:nvPr/>
        </p:nvSpPr>
        <p:spPr>
          <a:xfrm>
            <a:off x="5480209" y="2648545"/>
            <a:ext cx="3738563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Users don't understand spending patterns</a:t>
            </a:r>
            <a:endParaRPr lang="en-US" sz="18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0209" y="3349228"/>
            <a:ext cx="3738563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Without visualisation, it's nearly impossible to see where money is actually going each month</a:t>
            </a: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598223" y="2432923"/>
            <a:ext cx="4238387" cy="1987748"/>
          </a:xfrm>
          <a:prstGeom prst="roundRect">
            <a:avLst>
              <a:gd name="adj" fmla="val 552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75363" y="2432923"/>
            <a:ext cx="91440" cy="1987748"/>
          </a:xfrm>
          <a:prstGeom prst="roundRect">
            <a:avLst>
              <a:gd name="adj" fmla="val 189767"/>
            </a:avLst>
          </a:prstGeom>
          <a:solidFill>
            <a:srgbClr val="438951"/>
          </a:solidFill>
          <a:ln/>
        </p:spPr>
      </p:sp>
      <p:sp>
        <p:nvSpPr>
          <p:cNvPr id="14" name="Text 12"/>
          <p:cNvSpPr/>
          <p:nvPr/>
        </p:nvSpPr>
        <p:spPr>
          <a:xfrm>
            <a:off x="9882426" y="2648545"/>
            <a:ext cx="345674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No automatic categorisation</a:t>
            </a:r>
            <a:endParaRPr lang="en-US" sz="18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882426" y="3048000"/>
            <a:ext cx="3738563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Transactions are not grouped by type, leaving users to sort through hundreds of entries manually</a:t>
            </a: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3790" y="4584502"/>
            <a:ext cx="4238387" cy="1686520"/>
          </a:xfrm>
          <a:prstGeom prst="roundRect">
            <a:avLst>
              <a:gd name="adj" fmla="val 6506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0930" y="4584502"/>
            <a:ext cx="91440" cy="1686520"/>
          </a:xfrm>
          <a:prstGeom prst="roundRect">
            <a:avLst>
              <a:gd name="adj" fmla="val 189767"/>
            </a:avLst>
          </a:prstGeom>
          <a:solidFill>
            <a:srgbClr val="438951"/>
          </a:solidFill>
          <a:ln/>
        </p:spPr>
      </p:sp>
      <p:sp>
        <p:nvSpPr>
          <p:cNvPr id="18" name="Text 16"/>
          <p:cNvSpPr/>
          <p:nvPr/>
        </p:nvSpPr>
        <p:spPr>
          <a:xfrm>
            <a:off x="1077992" y="480012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No anomaly alerts</a:t>
            </a:r>
            <a:endParaRPr lang="en-US" sz="18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7992" y="5199578"/>
            <a:ext cx="3738563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Unusual or suspicious transactions go unnoticed without an intelligent detection system</a:t>
            </a:r>
            <a:r>
              <a:rPr lang="en-US" sz="150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.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196007" y="4584502"/>
            <a:ext cx="4238387" cy="1686520"/>
          </a:xfrm>
          <a:prstGeom prst="roundRect">
            <a:avLst>
              <a:gd name="adj" fmla="val 6506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73147" y="4584502"/>
            <a:ext cx="91440" cy="1686520"/>
          </a:xfrm>
          <a:prstGeom prst="roundRect">
            <a:avLst>
              <a:gd name="adj" fmla="val 189767"/>
            </a:avLst>
          </a:prstGeom>
          <a:solidFill>
            <a:srgbClr val="438951"/>
          </a:solidFill>
          <a:ln/>
        </p:spPr>
      </p:sp>
      <p:sp>
        <p:nvSpPr>
          <p:cNvPr id="22" name="Text 20"/>
          <p:cNvSpPr/>
          <p:nvPr/>
        </p:nvSpPr>
        <p:spPr>
          <a:xfrm>
            <a:off x="5480209" y="480012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No savings insights</a:t>
            </a:r>
            <a:endParaRPr lang="en-US" sz="18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0209" y="5199578"/>
            <a:ext cx="3738563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There are no personalised tips or recommendations to help users save more effectively.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93790" y="6455331"/>
            <a:ext cx="13042821" cy="740926"/>
          </a:xfrm>
          <a:prstGeom prst="roundRect">
            <a:avLst>
              <a:gd name="adj" fmla="val 23420"/>
            </a:avLst>
          </a:prstGeom>
          <a:solidFill>
            <a:srgbClr val="CCE6D1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552" y="6717982"/>
            <a:ext cx="240983" cy="19276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420297" y="6667262"/>
            <a:ext cx="1222355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Result: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 People overspend without awareness</a:t>
            </a:r>
            <a:r>
              <a:rPr lang="en-US" sz="15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863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</a:t>
            </a:r>
            <a:r>
              <a:rPr lang="en-US" sz="4450" b="1" dirty="0">
                <a:solidFill>
                  <a:srgbClr val="3B4540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Our Solution</a:t>
            </a:r>
            <a:endParaRPr lang="en-US" sz="44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58103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The user simply </a:t>
            </a:r>
            <a:r>
              <a:rPr lang="en-US" sz="1750" b="1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uploads a CSV</a:t>
            </a:r>
            <a:r>
              <a:rPr lang="en-US" sz="175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 — and our system takes care of the rest:</a:t>
            </a:r>
            <a:endParaRPr lang="en-US" sz="175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93790" y="3199090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4253" y="3199090"/>
            <a:ext cx="28676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</a:t>
            </a:r>
            <a:r>
              <a:rPr lang="en-US" sz="2200" b="1" dirty="0">
                <a:solidFill>
                  <a:srgbClr val="405449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NLP Categorisation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644253" y="3689509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Categorises transactions automatically using Natural Language Processing.</a:t>
            </a:r>
            <a:endParaRPr lang="en-US" sz="175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235893" y="3199090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86356" y="31990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</a:t>
            </a:r>
            <a:r>
              <a:rPr lang="en-US" sz="2200" b="1" dirty="0">
                <a:solidFill>
                  <a:srgbClr val="405449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Spending Overview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086356" y="3689509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Shows category breakdown and monthly spending in a clear, visual format.</a:t>
            </a:r>
            <a:endParaRPr lang="en-US" sz="175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9677995" y="3199090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28459" y="31990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</a:t>
            </a:r>
            <a:r>
              <a:rPr lang="en-US" sz="2200" b="1" dirty="0">
                <a:solidFill>
                  <a:srgbClr val="405449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Anomaly Detection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0528459" y="3689509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Detects unusual transactions and flags them for the user's attention.</a:t>
            </a:r>
            <a:endParaRPr lang="en-US" sz="175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793790" y="5231844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44253" y="52318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Spending Score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644253" y="5722263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Calculates a personalised spending score based on transaction behaviour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7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5235893" y="5231844"/>
            <a:ext cx="566976" cy="56697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086356" y="52318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</a:t>
            </a:r>
            <a:r>
              <a:rPr lang="en-US" sz="2200" b="1" dirty="0">
                <a:solidFill>
                  <a:srgbClr val="405449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Saving Tips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6086356" y="5722263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Suggests actionable saving tips tailored to the user's spending habits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5083" y="591264"/>
            <a:ext cx="3088243" cy="393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⚙</a:t>
            </a:r>
            <a:r>
              <a:rPr lang="en-US" sz="24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</a:t>
            </a:r>
            <a:r>
              <a:rPr lang="en-US" sz="2400" b="1" dirty="0">
                <a:solidFill>
                  <a:srgbClr val="3B4540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System Flow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5083" y="1119426"/>
            <a:ext cx="13300234" cy="152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A clean, end-to-end pipeline transforms raw CSV data into an interactive financial dashboard: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83" y="1347668"/>
            <a:ext cx="617577" cy="7411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49931" y="1471136"/>
            <a:ext cx="1544122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Upload CSV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83" y="2088833"/>
            <a:ext cx="617577" cy="741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49931" y="2212300"/>
            <a:ext cx="1544122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Data Cleaning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349931" y="2445663"/>
            <a:ext cx="12615386" cy="152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Pandas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083" y="2829997"/>
            <a:ext cx="617577" cy="7411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49931" y="2953464"/>
            <a:ext cx="2105858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NLP Categorisation Engine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083" y="3571161"/>
            <a:ext cx="617577" cy="74116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49931" y="3694628"/>
            <a:ext cx="1544122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Spending Analysis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083" y="4312325"/>
            <a:ext cx="617577" cy="74116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349931" y="4435793"/>
            <a:ext cx="1544122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Anomaly Detection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083" y="5053489"/>
            <a:ext cx="617577" cy="74116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349931" y="5176957"/>
            <a:ext cx="1769626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Interactive Dashboard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 9"/>
          <p:cNvSpPr/>
          <p:nvPr/>
        </p:nvSpPr>
        <p:spPr>
          <a:xfrm>
            <a:off x="665083" y="5895499"/>
            <a:ext cx="2470547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B4540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Key Technologies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665083" y="6305074"/>
            <a:ext cx="6616422" cy="632936"/>
          </a:xfrm>
          <a:prstGeom prst="roundRect">
            <a:avLst>
              <a:gd name="adj" fmla="val 17566"/>
            </a:avLst>
          </a:prstGeom>
          <a:solidFill>
            <a:srgbClr val="E8F3E8"/>
          </a:solidFill>
          <a:ln/>
        </p:spPr>
      </p:sp>
      <p:sp>
        <p:nvSpPr>
          <p:cNvPr id="19" name="Text 11"/>
          <p:cNvSpPr/>
          <p:nvPr/>
        </p:nvSpPr>
        <p:spPr>
          <a:xfrm>
            <a:off x="788551" y="6428542"/>
            <a:ext cx="1544122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b="1" dirty="0">
                <a:solidFill>
                  <a:srgbClr val="405449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Python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788551" y="6661904"/>
            <a:ext cx="6369487" cy="152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Core language powering the entire pipeline.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48776" y="6305074"/>
            <a:ext cx="6616541" cy="632936"/>
          </a:xfrm>
          <a:prstGeom prst="roundRect">
            <a:avLst>
              <a:gd name="adj" fmla="val 17566"/>
            </a:avLst>
          </a:prstGeom>
          <a:solidFill>
            <a:srgbClr val="E8F3E8"/>
          </a:solidFill>
          <a:ln/>
        </p:spPr>
      </p:sp>
      <p:sp>
        <p:nvSpPr>
          <p:cNvPr id="22" name="Text 14"/>
          <p:cNvSpPr/>
          <p:nvPr/>
        </p:nvSpPr>
        <p:spPr>
          <a:xfrm>
            <a:off x="7472243" y="6428542"/>
            <a:ext cx="2121575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b="1" dirty="0">
                <a:solidFill>
                  <a:srgbClr val="405449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NLP (Keyword / ML Ready)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7472243" y="6661904"/>
            <a:ext cx="6369606" cy="152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Intelligent transaction categorisation engine.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665083" y="7005280"/>
            <a:ext cx="6616422" cy="632936"/>
          </a:xfrm>
          <a:prstGeom prst="roundRect">
            <a:avLst>
              <a:gd name="adj" fmla="val 17566"/>
            </a:avLst>
          </a:prstGeom>
          <a:solidFill>
            <a:srgbClr val="E8F3E8"/>
          </a:solidFill>
          <a:ln/>
        </p:spPr>
      </p:sp>
      <p:sp>
        <p:nvSpPr>
          <p:cNvPr id="25" name="Text 17"/>
          <p:cNvSpPr/>
          <p:nvPr/>
        </p:nvSpPr>
        <p:spPr>
          <a:xfrm>
            <a:off x="788551" y="7128748"/>
            <a:ext cx="1544122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b="1" dirty="0">
                <a:solidFill>
                  <a:srgbClr val="405449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Statistical Analysis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788551" y="7362111"/>
            <a:ext cx="6369487" cy="152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Detects patterns, anomalies, and spending trends.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7348776" y="7005280"/>
            <a:ext cx="6616541" cy="632936"/>
          </a:xfrm>
          <a:prstGeom prst="roundRect">
            <a:avLst>
              <a:gd name="adj" fmla="val 17566"/>
            </a:avLst>
          </a:prstGeom>
          <a:solidFill>
            <a:srgbClr val="E8F3E8"/>
          </a:solidFill>
          <a:ln/>
        </p:spPr>
      </p:sp>
      <p:sp>
        <p:nvSpPr>
          <p:cNvPr id="28" name="Text 20"/>
          <p:cNvSpPr/>
          <p:nvPr/>
        </p:nvSpPr>
        <p:spPr>
          <a:xfrm>
            <a:off x="7472243" y="7128748"/>
            <a:ext cx="1544122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b="1" dirty="0">
                <a:solidFill>
                  <a:srgbClr val="405449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Web Dashboard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7472243" y="7362111"/>
            <a:ext cx="6369606" cy="152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Interactive front-end for visualising insights.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1647" y="625554"/>
            <a:ext cx="4241125" cy="530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</a:t>
            </a:r>
            <a:r>
              <a:rPr lang="en-US" sz="3200" b="1" dirty="0">
                <a:solidFill>
                  <a:srgbClr val="3B4540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Why This Matters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1647" y="1409343"/>
            <a:ext cx="381595" cy="381595"/>
          </a:xfrm>
          <a:prstGeom prst="roundRect">
            <a:avLst>
              <a:gd name="adj" fmla="val 40012"/>
            </a:avLst>
          </a:prstGeom>
          <a:solidFill>
            <a:srgbClr val="E8F3E8"/>
          </a:solidFill>
          <a:ln/>
        </p:spPr>
      </p:sp>
      <p:sp>
        <p:nvSpPr>
          <p:cNvPr id="4" name="Text 2"/>
          <p:cNvSpPr/>
          <p:nvPr/>
        </p:nvSpPr>
        <p:spPr>
          <a:xfrm>
            <a:off x="1300043" y="1467564"/>
            <a:ext cx="3686294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✔</a:t>
            </a: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</a:t>
            </a:r>
            <a:r>
              <a:rPr lang="en-US" b="1" dirty="0">
                <a:solidFill>
                  <a:srgbClr val="405449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Explainable NLP categorisation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00043" y="1816298"/>
            <a:ext cx="12538710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Users can see and understand exactly how their transactions are being classified.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91647" y="2307193"/>
            <a:ext cx="381595" cy="381595"/>
          </a:xfrm>
          <a:prstGeom prst="roundRect">
            <a:avLst>
              <a:gd name="adj" fmla="val 40012"/>
            </a:avLst>
          </a:prstGeom>
          <a:solidFill>
            <a:srgbClr val="E8F3E8"/>
          </a:solidFill>
          <a:ln/>
        </p:spPr>
      </p:sp>
      <p:sp>
        <p:nvSpPr>
          <p:cNvPr id="7" name="Text 5"/>
          <p:cNvSpPr/>
          <p:nvPr/>
        </p:nvSpPr>
        <p:spPr>
          <a:xfrm>
            <a:off x="1300043" y="2365415"/>
            <a:ext cx="3060740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✔</a:t>
            </a: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</a:t>
            </a:r>
            <a:r>
              <a:rPr lang="en-US" b="1" dirty="0">
                <a:solidFill>
                  <a:srgbClr val="405449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Works with any bank CSV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00043" y="2714149"/>
            <a:ext cx="12538710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No dependency on a specific bank's format — fully flexible and universally compatible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1647" y="3205043"/>
            <a:ext cx="381595" cy="381595"/>
          </a:xfrm>
          <a:prstGeom prst="roundRect">
            <a:avLst>
              <a:gd name="adj" fmla="val 40012"/>
            </a:avLst>
          </a:prstGeom>
          <a:solidFill>
            <a:srgbClr val="E8F3E8"/>
          </a:solidFill>
          <a:ln/>
        </p:spPr>
      </p:sp>
      <p:sp>
        <p:nvSpPr>
          <p:cNvPr id="10" name="Text 8"/>
          <p:cNvSpPr/>
          <p:nvPr/>
        </p:nvSpPr>
        <p:spPr>
          <a:xfrm>
            <a:off x="1300043" y="3263265"/>
            <a:ext cx="4432935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✔</a:t>
            </a: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</a:t>
            </a:r>
            <a:r>
              <a:rPr lang="en-US" b="1" dirty="0">
                <a:solidFill>
                  <a:srgbClr val="405449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Privacy-friendly (no bank API needed)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00043" y="3611999"/>
            <a:ext cx="12538710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Users retain full control of their data — no third-party bank connections required.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1647" y="4102894"/>
            <a:ext cx="381595" cy="381595"/>
          </a:xfrm>
          <a:prstGeom prst="roundRect">
            <a:avLst>
              <a:gd name="adj" fmla="val 40012"/>
            </a:avLst>
          </a:prstGeom>
          <a:solidFill>
            <a:srgbClr val="E8F3E8"/>
          </a:solidFill>
          <a:ln/>
        </p:spPr>
      </p:sp>
      <p:sp>
        <p:nvSpPr>
          <p:cNvPr id="13" name="Text 11"/>
          <p:cNvSpPr/>
          <p:nvPr/>
        </p:nvSpPr>
        <p:spPr>
          <a:xfrm>
            <a:off x="1300043" y="4161115"/>
            <a:ext cx="4169093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✔</a:t>
            </a: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</a:t>
            </a:r>
            <a:r>
              <a:rPr lang="en-US" b="1" dirty="0">
                <a:solidFill>
                  <a:srgbClr val="405449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Real-world financial awareness tool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00043" y="4509849"/>
            <a:ext cx="12538710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Designed to create genuine, lasting impact on everyday financial decision-making.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1647" y="5000744"/>
            <a:ext cx="381595" cy="381595"/>
          </a:xfrm>
          <a:prstGeom prst="roundRect">
            <a:avLst>
              <a:gd name="adj" fmla="val 40012"/>
            </a:avLst>
          </a:prstGeom>
          <a:solidFill>
            <a:srgbClr val="E8F3E8"/>
          </a:solidFill>
          <a:ln/>
        </p:spPr>
      </p:sp>
      <p:sp>
        <p:nvSpPr>
          <p:cNvPr id="16" name="Text 14"/>
          <p:cNvSpPr/>
          <p:nvPr/>
        </p:nvSpPr>
        <p:spPr>
          <a:xfrm>
            <a:off x="1300043" y="5058966"/>
            <a:ext cx="3553420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✔</a:t>
            </a: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</a:t>
            </a:r>
            <a:r>
              <a:rPr lang="en-US" b="1" dirty="0">
                <a:solidFill>
                  <a:srgbClr val="405449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Scalable to fintech integration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00043" y="5407700"/>
            <a:ext cx="12538710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Built with a modular architecture ready for enterprise and fintech adoption.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1647" y="5835134"/>
            <a:ext cx="3392924" cy="424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B4540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Future Scope</a:t>
            </a:r>
            <a:endParaRPr lang="en-US" sz="26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91647" y="6449497"/>
            <a:ext cx="4264462" cy="1154549"/>
          </a:xfrm>
          <a:prstGeom prst="roundRect">
            <a:avLst>
              <a:gd name="adj" fmla="val 13225"/>
            </a:avLst>
          </a:prstGeom>
          <a:solidFill>
            <a:srgbClr val="E8F3E8"/>
          </a:solidFill>
          <a:ln/>
        </p:spPr>
      </p:sp>
      <p:sp>
        <p:nvSpPr>
          <p:cNvPr id="20" name="Text 18"/>
          <p:cNvSpPr/>
          <p:nvPr/>
        </p:nvSpPr>
        <p:spPr>
          <a:xfrm>
            <a:off x="961192" y="6619042"/>
            <a:ext cx="2693551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ML-based model training</a:t>
            </a:r>
            <a:endParaRPr lang="en-US" sz="16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61192" y="6960156"/>
            <a:ext cx="3925372" cy="47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Continuously improving categorisation accuracy through machine learning.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182910" y="6449497"/>
            <a:ext cx="4264462" cy="1154549"/>
          </a:xfrm>
          <a:prstGeom prst="roundRect">
            <a:avLst>
              <a:gd name="adj" fmla="val 13225"/>
            </a:avLst>
          </a:prstGeom>
          <a:solidFill>
            <a:srgbClr val="E8F3E8"/>
          </a:solidFill>
          <a:ln/>
        </p:spPr>
      </p:sp>
      <p:sp>
        <p:nvSpPr>
          <p:cNvPr id="23" name="Text 21"/>
          <p:cNvSpPr/>
          <p:nvPr/>
        </p:nvSpPr>
        <p:spPr>
          <a:xfrm>
            <a:off x="5352455" y="6619042"/>
            <a:ext cx="3370659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Real-time bank API integration</a:t>
            </a:r>
            <a:endParaRPr lang="en-US" sz="16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352455" y="6960156"/>
            <a:ext cx="3925372" cy="47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Live transaction feeds for instant, up-to-date financial insights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574173" y="6449497"/>
            <a:ext cx="4264581" cy="1154549"/>
          </a:xfrm>
          <a:prstGeom prst="roundRect">
            <a:avLst>
              <a:gd name="adj" fmla="val 13225"/>
            </a:avLst>
          </a:prstGeom>
          <a:solidFill>
            <a:srgbClr val="E8F3E8"/>
          </a:solidFill>
          <a:ln/>
        </p:spPr>
      </p:sp>
      <p:sp>
        <p:nvSpPr>
          <p:cNvPr id="26" name="Text 24"/>
          <p:cNvSpPr/>
          <p:nvPr/>
        </p:nvSpPr>
        <p:spPr>
          <a:xfrm>
            <a:off x="9743718" y="6619042"/>
            <a:ext cx="2137648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AI financial chatbot</a:t>
            </a:r>
            <a:endParaRPr lang="en-US" sz="16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743718" y="6960156"/>
            <a:ext cx="3925491" cy="47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A conversational AI assistant to answer personal finance questions in real time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41271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</a:t>
            </a:r>
            <a:r>
              <a:rPr lang="en-US" sz="4000" b="1" dirty="0">
                <a:solidFill>
                  <a:srgbClr val="3B4540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Final Thought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099899" y="1830229"/>
            <a:ext cx="7250311" cy="204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3B4540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We don't just categorise transactions.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3B4540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We empower smarter financial decisions.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93790" y="1554718"/>
            <a:ext cx="22860" cy="2592229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4353639"/>
            <a:ext cx="7556421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The </a:t>
            </a:r>
            <a:r>
              <a:rPr lang="en-US" sz="1600" b="1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Smart Bank Statement Analyzer</a:t>
            </a:r>
            <a:r>
              <a:rPr lang="en-US" sz="160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 bridges the gap between raw financial data and genuine human understanding — making personal finance accessible, transparent, and actionable for everyone.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93790" y="555998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B4540"/>
                </a:solidFill>
                <a:latin typeface="Times New Roman" pitchFamily="18" charset="0"/>
                <a:ea typeface="Fraunces Extra Bold" pitchFamily="34" charset="-122"/>
                <a:cs typeface="Times New Roman" pitchFamily="18" charset="0"/>
              </a:rPr>
              <a:t>What We Built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93790" y="6154341"/>
            <a:ext cx="7556421" cy="1433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AI-powered NLP categorisation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Anomaly detection &amp; spending score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Privacy-friendly CSV pipeline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Times New Roman" pitchFamily="18" charset="0"/>
                <a:ea typeface="Nobile" pitchFamily="34" charset="-122"/>
                <a:cs typeface="Times New Roman" pitchFamily="18" charset="0"/>
              </a:rPr>
              <a:t>Interactive financial dashboard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508</Words>
  <Application>Microsoft Office PowerPoint</Application>
  <PresentationFormat>Custom</PresentationFormat>
  <Paragraphs>83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Times New Roman</vt:lpstr>
      <vt:lpstr>Fraunces Extra Bold</vt:lpstr>
      <vt:lpstr>Nobile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4</cp:revision>
  <dcterms:created xsi:type="dcterms:W3CDTF">2026-02-25T17:03:54Z</dcterms:created>
  <dcterms:modified xsi:type="dcterms:W3CDTF">2026-02-28T03:32:01Z</dcterms:modified>
</cp:coreProperties>
</file>